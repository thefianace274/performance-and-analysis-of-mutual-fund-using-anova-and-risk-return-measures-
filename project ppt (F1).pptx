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E57F-BA8E-3B89-D38C-96381228A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F9950-8458-1B17-4D17-FF9B197E2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142F-D61B-CA19-060A-5D357014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C890-D7ED-E331-34EB-8B4EBB84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D0E6A-F622-B717-8F1F-2860BBCB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7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51F4-A899-806C-6DA5-0823A70B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340C-EDD2-7A50-3D63-69B25700B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FD8AD-4AF0-6D0A-9F97-350498446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D6F50-74FA-3921-8268-AD63F946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38359-030A-15CF-EA78-66F6E7F8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4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B06A-352A-75D8-14B0-B0BFD7A8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75D6F-BA97-6E06-15CB-2736F212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51CD8-0EBD-B977-7565-CCDDEA7E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B31D-8CCD-FA2A-8060-39896967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0596E-86AB-6C3A-FF57-4FE88071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05B7-EBA0-D1D3-1AB6-FD329DB8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8E3CF-61B4-E340-C631-545D3063C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60DC2-D235-30EB-4469-ABBFEA1F3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6A50C-6BBF-E596-CB19-EE1B9035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D14CC-D096-5239-F3A9-77E57546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9B117-2E5B-4370-B075-27CE4487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4291-14D7-D326-24CF-D8C087D5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09D6-A931-E1F5-9646-597969FC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B71A6-D0D3-0064-3E3B-E7629E508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A08EF-1A92-D3C4-C2D3-B317B5AED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D755D-0304-2D13-30E6-510363E2D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1EF2D-3256-9E2C-777A-011F092C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983BF-3F6E-47AE-1031-FB9FE82D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B4EFF-3DE6-68EB-0F25-EC7D25E2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9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61E6-DB69-0110-AB6A-9E5FBA99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FCBB1-2481-AD4A-0895-E8689CB4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BDAB3-38D7-27A2-64A8-77CCCBAA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50149-F0B2-80D3-A712-16A47D4D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3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F4124-D5BC-EA02-F948-B972B310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7D657-A7F6-8A73-972D-C8DB280A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22C64-7166-2F2B-1C4F-6F6557FB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05DC-A37A-AAA1-C0E6-55837C4A1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7C718-EE8F-C4DE-EAD6-53E8B74A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B8657-FD77-D7F9-0D5C-20BA3897F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372DB-EE13-E1BB-20B7-B52382A9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C707E-B4A6-3479-65E8-ABB8D4B0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F574-788D-C285-3DAC-DDFE3A90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5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EA81-FD79-8590-C220-3CDBB506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941AF-0D30-BE4D-F123-A3C1AC459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2F587-CAC6-D3A0-C1C4-F21008AC9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AB454-7808-2297-311E-5E05DD50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8371B-0BAC-DC98-D2CB-059AF846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327B9-23FD-6A23-B8FC-36C68FFE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0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321A-EF8E-0A8C-D979-9FDFA7FA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EC100-C017-ABFB-BDE7-46D37B96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38CF-A7F2-47CE-E46B-84895260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F8788-416D-4ACB-D18D-0788F425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F2C76-92AA-E572-F9CE-37C9B104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717A1-4B01-752E-2F93-F94710BE7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BC48E-84D2-E914-5B53-4BC52E38D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AC5D7-4CE9-1CC5-6820-4973697E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520E1-7436-F329-C873-0697D6AB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AA27-078A-9AA1-D28C-9E90F134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4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95EF8-F69D-4ED3-C4C8-CE28BA1F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80CA3-9CA0-3F76-33A1-29BDB81BF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31E6-3922-A88E-C90C-542A1E47E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A5F34-E33E-4C96-93A2-724033147D7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3861-2F91-AB88-5070-C7B6BA4DB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B6B41-A7DE-3A12-BD2F-B99D1AEEE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E6316-0C40-425C-A5D0-4ADED10F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0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B4029D-832A-9FD7-61A4-F24260595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864" y="51926"/>
            <a:ext cx="1968706" cy="182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3ABC6-ACB9-4FDF-9C9F-FF029D5A7420}"/>
              </a:ext>
            </a:extLst>
          </p:cNvPr>
          <p:cNvSpPr txBox="1"/>
          <p:nvPr/>
        </p:nvSpPr>
        <p:spPr>
          <a:xfrm>
            <a:off x="3209567" y="2036914"/>
            <a:ext cx="4914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M.V.P SAMAJ’S K.T.H.M.COLLEGE, NASHIK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E1CDB-71A6-A28E-6CD4-744E5E48ABF4}"/>
              </a:ext>
            </a:extLst>
          </p:cNvPr>
          <p:cNvSpPr txBox="1"/>
          <p:nvPr/>
        </p:nvSpPr>
        <p:spPr>
          <a:xfrm>
            <a:off x="2610661" y="2400900"/>
            <a:ext cx="7583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“Performance Analysis of  Mutual Funds Using ANOVA and Risk-Return Measures”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9ECF9A-5572-04E6-8D30-5685F96EE0C7}"/>
              </a:ext>
            </a:extLst>
          </p:cNvPr>
          <p:cNvSpPr txBox="1"/>
          <p:nvPr/>
        </p:nvSpPr>
        <p:spPr>
          <a:xfrm>
            <a:off x="4419095" y="3429000"/>
            <a:ext cx="2215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SUBMITTED BY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4A194-7CBE-8E4F-A022-DB8F54587ADB}"/>
              </a:ext>
            </a:extLst>
          </p:cNvPr>
          <p:cNvSpPr txBox="1"/>
          <p:nvPr/>
        </p:nvSpPr>
        <p:spPr>
          <a:xfrm>
            <a:off x="2619579" y="3962267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Ekta 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Kapadnis</a:t>
            </a:r>
            <a:r>
              <a:rPr lang="en-US" sz="1800" b="1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  , Omkar Dhepale ,  Chetana 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Sonavane</a:t>
            </a:r>
            <a:r>
              <a:rPr lang="en-US" sz="1800" b="1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, Devendra 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Ahire</a:t>
            </a:r>
            <a:r>
              <a:rPr lang="en-US" sz="1800" b="1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,  Vaibhav 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Aher</a:t>
            </a:r>
            <a:r>
              <a:rPr lang="en-US" sz="1800" b="0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11755F-40FD-7B8D-5B87-8441DA88E549}"/>
              </a:ext>
            </a:extLst>
          </p:cNvPr>
          <p:cNvSpPr txBox="1"/>
          <p:nvPr/>
        </p:nvSpPr>
        <p:spPr>
          <a:xfrm>
            <a:off x="2727798" y="512886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Department of Statistics</a:t>
            </a:r>
            <a:r>
              <a:rPr lang="en-US" sz="1800" b="0" i="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ea typeface="Arim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274B4-DC71-5987-1811-3D7E007DBB58}"/>
              </a:ext>
            </a:extLst>
          </p:cNvPr>
          <p:cNvSpPr txBox="1"/>
          <p:nvPr/>
        </p:nvSpPr>
        <p:spPr>
          <a:xfrm>
            <a:off x="4419095" y="5510635"/>
            <a:ext cx="2751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kern="1200" dirty="0"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 </a:t>
            </a:r>
            <a:r>
              <a:rPr lang="en-US" sz="1800" b="0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Under the Guidance of 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3407C-726C-4A2C-0E08-BDCC2BB5DFDE}"/>
              </a:ext>
            </a:extLst>
          </p:cNvPr>
          <p:cNvSpPr txBox="1"/>
          <p:nvPr/>
        </p:nvSpPr>
        <p:spPr>
          <a:xfrm>
            <a:off x="4496916" y="5892404"/>
            <a:ext cx="2935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Dr. Kalpesh 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Amrutkar</a:t>
            </a:r>
            <a:r>
              <a:rPr lang="en-US" sz="1800" b="0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    </a:t>
            </a:r>
            <a:r>
              <a:rPr lang="en-US" sz="1600" b="0" i="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    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37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CFF6B-591F-23C6-9157-BC71021FB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262" y="1510219"/>
            <a:ext cx="3880679" cy="3837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0FBBEC-F826-D9AA-54E1-CA7ACC791F9A}"/>
              </a:ext>
            </a:extLst>
          </p:cNvPr>
          <p:cNvSpPr txBox="1"/>
          <p:nvPr/>
        </p:nvSpPr>
        <p:spPr>
          <a:xfrm>
            <a:off x="469968" y="1051569"/>
            <a:ext cx="7020330" cy="1964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kern="1200" dirty="0">
                <a:effectLst/>
                <a:latin typeface="Times New Roman" panose="02020603050405020304" pitchFamily="18" charset="0"/>
                <a:ea typeface="Syne Bold"/>
                <a:cs typeface="Times New Roman" panose="02020603050405020304" pitchFamily="18" charset="0"/>
              </a:rPr>
              <a:t>“Performance Analysis of Mutual Funds Using ANOVA and Risk-Return Measures”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6571-B000-1F9A-6316-90A21BC376A1}"/>
              </a:ext>
            </a:extLst>
          </p:cNvPr>
          <p:cNvSpPr txBox="1"/>
          <p:nvPr/>
        </p:nvSpPr>
        <p:spPr>
          <a:xfrm>
            <a:off x="469968" y="3263628"/>
            <a:ext cx="7525256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 comprehensive statistical study evaluating the performance and risk characteristics of selected Large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cap mutual funds from leading Indian Asset 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Management Companies including SBI, UTI, Nippon, </a:t>
            </a:r>
            <a:r>
              <a:rPr lang="en-US" sz="2400" dirty="0" err="1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Mirae</a:t>
            </a:r>
            <a:r>
              <a:rPr lang="en-US" sz="24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Asset, and HDFC</a:t>
            </a:r>
            <a:r>
              <a:rPr lang="en-US" sz="16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5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89ED7-B378-896A-BF0B-4F49AE07ED9B}"/>
              </a:ext>
            </a:extLst>
          </p:cNvPr>
          <p:cNvSpPr txBox="1"/>
          <p:nvPr/>
        </p:nvSpPr>
        <p:spPr>
          <a:xfrm>
            <a:off x="1267028" y="335764"/>
            <a:ext cx="2419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Objectives: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A3313-2E59-357D-6469-143145C068B1}"/>
              </a:ext>
            </a:extLst>
          </p:cNvPr>
          <p:cNvSpPr txBox="1"/>
          <p:nvPr/>
        </p:nvSpPr>
        <p:spPr>
          <a:xfrm>
            <a:off x="848738" y="982095"/>
            <a:ext cx="1023106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performance of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selected Large-cap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funds from SBI, UTI, Nippon,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Mirae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Asset, and HDFC.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compare the returns (NAV returns) of the selected mutual funds over a specified time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consistency and variability in returns among the selected mutual funds.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which mutual fund performs better based on statistical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effectiveness of investment strategies adopted by different Asset Management Companies.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insights for investors in selecting suitable Large-cap mutual funds based on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54138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117A79-AA7D-35D6-4A97-C0623CC05429}"/>
              </a:ext>
            </a:extLst>
          </p:cNvPr>
          <p:cNvSpPr txBox="1"/>
          <p:nvPr/>
        </p:nvSpPr>
        <p:spPr>
          <a:xfrm>
            <a:off x="551234" y="4764163"/>
            <a:ext cx="110895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The data shows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Net Asset Value (NAV)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onthly returns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of five mutual funds: HDFC,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Mirae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, Nippon, SBI, and UTI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    over different time periods.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Arimo" panose="020B060402020202020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NAV values indicate the market value of each fund, while returns show the percentage gain or loss from one period to the next.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Arimo" panose="020B060402020202020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The data reveals that fund performance fluctuates over time, with both positive and negative returns, indicating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     changing market conditions.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C757C-56AF-A516-99D6-9D48C658E7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14"/>
          <a:stretch/>
        </p:blipFill>
        <p:spPr>
          <a:xfrm>
            <a:off x="246217" y="784737"/>
            <a:ext cx="11699566" cy="3745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816CEF-C725-4DA7-9444-ED0DD51079DB}"/>
              </a:ext>
            </a:extLst>
          </p:cNvPr>
          <p:cNvSpPr txBox="1"/>
          <p:nvPr/>
        </p:nvSpPr>
        <p:spPr>
          <a:xfrm>
            <a:off x="457200" y="181941"/>
            <a:ext cx="12840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ata :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790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2EA2B-69E7-FDE4-8288-1D7B6E3E826B}"/>
              </a:ext>
            </a:extLst>
          </p:cNvPr>
          <p:cNvSpPr txBox="1"/>
          <p:nvPr/>
        </p:nvSpPr>
        <p:spPr>
          <a:xfrm>
            <a:off x="1140569" y="510860"/>
            <a:ext cx="2478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Methodology 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960FF-41A7-3FEC-08C1-A252EC23F1A9}"/>
              </a:ext>
            </a:extLst>
          </p:cNvPr>
          <p:cNvSpPr txBox="1"/>
          <p:nvPr/>
        </p:nvSpPr>
        <p:spPr>
          <a:xfrm>
            <a:off x="571501" y="1347704"/>
            <a:ext cx="5128907" cy="205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Five mutual funds were selected from major AMCs including SBI, UTI, Nippon, </a:t>
            </a:r>
            <a:r>
              <a:rPr lang="en-US" sz="1600" kern="1200" dirty="0" err="1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Mirae</a:t>
            </a:r>
            <a:r>
              <a:rPr lang="en-US" sz="160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Asset, and HDFC. Selection criteria included fund popularity, historical performance track record, and market presence. The sampling framework ensures representation from leading players in the mutual fund industry.</a:t>
            </a:r>
            <a:endParaRPr lang="en-US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E6A66-BF9F-1403-656A-BB8206717121}"/>
              </a:ext>
            </a:extLst>
          </p:cNvPr>
          <p:cNvSpPr txBox="1"/>
          <p:nvPr/>
        </p:nvSpPr>
        <p:spPr>
          <a:xfrm>
            <a:off x="6004397" y="1730181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from AMFI and financial platforms for 5 mutual funds over 5 years (2021-2025)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F402B-C01B-ABBD-6AC2-F344813C379D}"/>
              </a:ext>
            </a:extLst>
          </p:cNvPr>
          <p:cNvSpPr txBox="1"/>
          <p:nvPr/>
        </p:nvSpPr>
        <p:spPr>
          <a:xfrm>
            <a:off x="6004397" y="1425595"/>
            <a:ext cx="205983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1.Data Collection: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81F8B-D00F-684B-6BC7-56AE6ADE911B}"/>
              </a:ext>
            </a:extLst>
          </p:cNvPr>
          <p:cNvSpPr txBox="1"/>
          <p:nvPr/>
        </p:nvSpPr>
        <p:spPr>
          <a:xfrm>
            <a:off x="6004397" y="2940290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mean, variance, standard deviation, minimum, and maximum returns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BE70DC-2E75-B535-710A-D564247761B9}"/>
              </a:ext>
            </a:extLst>
          </p:cNvPr>
          <p:cNvSpPr txBox="1"/>
          <p:nvPr/>
        </p:nvSpPr>
        <p:spPr>
          <a:xfrm>
            <a:off x="6004396" y="2631809"/>
            <a:ext cx="1592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2.Descriptive: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E11AD5-08E4-47B2-056D-AE39D224E655}"/>
              </a:ext>
            </a:extLst>
          </p:cNvPr>
          <p:cNvSpPr txBox="1"/>
          <p:nvPr/>
        </p:nvSpPr>
        <p:spPr>
          <a:xfrm>
            <a:off x="6004396" y="3672194"/>
            <a:ext cx="1592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3.Regression: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2E13A-06C5-7021-6877-732C02272B94}"/>
              </a:ext>
            </a:extLst>
          </p:cNvPr>
          <p:cNvSpPr txBox="1"/>
          <p:nvPr/>
        </p:nvSpPr>
        <p:spPr>
          <a:xfrm>
            <a:off x="6004397" y="4019743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Alpha and Beta to measure fund performance and market sensitivity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CB500-0CC4-2C40-2531-1C81CAFBC824}"/>
              </a:ext>
            </a:extLst>
          </p:cNvPr>
          <p:cNvSpPr txBox="1"/>
          <p:nvPr/>
        </p:nvSpPr>
        <p:spPr>
          <a:xfrm>
            <a:off x="6004395" y="4828957"/>
            <a:ext cx="2059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4.ANOVA Testing: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B2A454-D97F-7BB3-52A7-D4B1E74224E8}"/>
              </a:ext>
            </a:extLst>
          </p:cNvPr>
          <p:cNvSpPr txBox="1"/>
          <p:nvPr/>
        </p:nvSpPr>
        <p:spPr>
          <a:xfrm>
            <a:off x="6004395" y="5158184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mean High vs. Low values to identify significant performance differences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066D78-7D18-B16C-4A8B-679E0900561E}"/>
              </a:ext>
            </a:extLst>
          </p:cNvPr>
          <p:cNvSpPr txBox="1"/>
          <p:nvPr/>
        </p:nvSpPr>
        <p:spPr>
          <a:xfrm>
            <a:off x="571501" y="4077829"/>
            <a:ext cx="5432894" cy="88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Mutual Funds:</a:t>
            </a:r>
            <a:r>
              <a:rPr lang="en-US" sz="16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SBI, UTI, Nippon, </a:t>
            </a:r>
            <a:r>
              <a:rPr lang="en-US" sz="1600" dirty="0" err="1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Mirae</a:t>
            </a:r>
            <a:r>
              <a:rPr lang="en-US" sz="16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Asset, HDFC representing different investment strategies and portfolio management styles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EAA0A0-849A-8F84-03A5-F0AA1759F9C7}"/>
              </a:ext>
            </a:extLst>
          </p:cNvPr>
          <p:cNvSpPr txBox="1"/>
          <p:nvPr/>
        </p:nvSpPr>
        <p:spPr>
          <a:xfrm>
            <a:off x="571501" y="3655939"/>
            <a:ext cx="26191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effectLst/>
                <a:latin typeface="Times New Roman" panose="02020603050405020304" pitchFamily="18" charset="0"/>
                <a:ea typeface="Syne Bold"/>
                <a:cs typeface="Times New Roman" panose="02020603050405020304" pitchFamily="18" charset="0"/>
              </a:rPr>
              <a:t>Independent Variable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AD401-9C46-6FA2-6E2D-FB1E08EA7769}"/>
              </a:ext>
            </a:extLst>
          </p:cNvPr>
          <p:cNvSpPr txBox="1"/>
          <p:nvPr/>
        </p:nvSpPr>
        <p:spPr>
          <a:xfrm>
            <a:off x="571501" y="5126852"/>
            <a:ext cx="248298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effectLst/>
                <a:latin typeface="Times New Roman" panose="02020603050405020304" pitchFamily="18" charset="0"/>
                <a:ea typeface="Syne Bold"/>
                <a:cs typeface="Times New Roman" panose="02020603050405020304" pitchFamily="18" charset="0"/>
              </a:rPr>
              <a:t>Dependent Variable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388787-1B6F-FE73-0A72-D7E8DA8D39EF}"/>
              </a:ext>
            </a:extLst>
          </p:cNvPr>
          <p:cNvSpPr txBox="1"/>
          <p:nvPr/>
        </p:nvSpPr>
        <p:spPr>
          <a:xfrm>
            <a:off x="571501" y="5481349"/>
            <a:ext cx="512890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Returns/NAV Returns:</a:t>
            </a:r>
            <a:r>
              <a:rPr lang="en-US" sz="160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 Performance metrics used to evaluate and compare fund returns over time</a:t>
            </a:r>
            <a:endParaRPr lang="en-US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07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8899B8-6E8E-6030-AEC7-A3D65EEF9083}"/>
              </a:ext>
            </a:extLst>
          </p:cNvPr>
          <p:cNvSpPr txBox="1"/>
          <p:nvPr/>
        </p:nvSpPr>
        <p:spPr>
          <a:xfrm>
            <a:off x="1247572" y="385405"/>
            <a:ext cx="49684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009D8F6-AF72-29D6-6E45-70B4EC394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10472"/>
              </p:ext>
            </p:extLst>
          </p:nvPr>
        </p:nvGraphicFramePr>
        <p:xfrm>
          <a:off x="1325393" y="1177047"/>
          <a:ext cx="7594872" cy="2213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160">
                  <a:extLst>
                    <a:ext uri="{9D8B030D-6E8A-4147-A177-3AD203B41FA5}">
                      <a16:colId xmlns:a16="http://schemas.microsoft.com/office/drawing/2014/main" val="876033696"/>
                    </a:ext>
                  </a:extLst>
                </a:gridCol>
                <a:gridCol w="4153712">
                  <a:extLst>
                    <a:ext uri="{9D8B030D-6E8A-4147-A177-3AD203B41FA5}">
                      <a16:colId xmlns:a16="http://schemas.microsoft.com/office/drawing/2014/main" val="2924640115"/>
                    </a:ext>
                  </a:extLst>
                </a:gridCol>
              </a:tblGrid>
              <a:tr h="36619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Mutual 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721077"/>
                  </a:ext>
                </a:extLst>
              </a:tr>
              <a:tr h="38283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HDFC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1.34% (Strong performance)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53284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SBI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1.19%  (Stable returns)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528973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Nippon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1.58%  (Highest average)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177111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yne Bold" pitchFamily="34" charset="-122"/>
                          <a:cs typeface="Times New Roman" panose="02020603050405020304" pitchFamily="18" charset="0"/>
                        </a:rPr>
                        <a:t>Mirae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yne Bold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  (Consistent growth)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753298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1.09%  (low average)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4482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908D66-1EBC-8BCA-1DD1-4B57FF503F13}"/>
              </a:ext>
            </a:extLst>
          </p:cNvPr>
          <p:cNvSpPr txBox="1"/>
          <p:nvPr/>
        </p:nvSpPr>
        <p:spPr>
          <a:xfrm>
            <a:off x="817123" y="3614142"/>
            <a:ext cx="943583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HDFC Fund: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HDFC Fund shows strong performance with a relatively high average return compared to other funds.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SBI Fund: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SBI Fund provides stable and consistent returns, indicating balanced performance.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Nippon Fund: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Nippon Fund achieved the highest average return, making it the best-performing fund in the group.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Mirae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Assets: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Mirae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Assets demonstrates steady growth with consistent but moderate returns.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 Fund: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 Fund has the lowest average return, indicating comparatively weaker performance among the funds. </a:t>
            </a:r>
          </a:p>
        </p:txBody>
      </p:sp>
    </p:spTree>
    <p:extLst>
      <p:ext uri="{BB962C8B-B14F-4D97-AF65-F5344CB8AC3E}">
        <p14:creationId xmlns:p14="http://schemas.microsoft.com/office/powerpoint/2010/main" val="336338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81C49-FD31-91B8-28F5-83B51736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12" y="1383226"/>
            <a:ext cx="5649265" cy="2489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2E8D8-9397-6CA1-D13A-6635D626F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94" y="1248650"/>
            <a:ext cx="5833859" cy="2758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2965EB-B8AE-86F1-3228-8025C29429F9}"/>
              </a:ext>
            </a:extLst>
          </p:cNvPr>
          <p:cNvSpPr txBox="1"/>
          <p:nvPr/>
        </p:nvSpPr>
        <p:spPr>
          <a:xfrm>
            <a:off x="998302" y="3929509"/>
            <a:ext cx="92023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of HDFC: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NAV of HDFC shows an overall upward trend from 2021 to 2025, indicating steady growth in the fund’s value despite minor fluctuations.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of HDFC: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returns of HDFC fluctuate over time with both positive and negative values, showing variable performance but generally maintaining positive returns in most periods.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5213F-AF7C-08E9-339A-1997328FCA2B}"/>
              </a:ext>
            </a:extLst>
          </p:cNvPr>
          <p:cNvSpPr txBox="1"/>
          <p:nvPr/>
        </p:nvSpPr>
        <p:spPr>
          <a:xfrm>
            <a:off x="1202582" y="527687"/>
            <a:ext cx="6476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NAV and Returns (2021–2025)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C8BC9-C602-D1AF-EDE1-F2AEE43D0FB2}"/>
              </a:ext>
            </a:extLst>
          </p:cNvPr>
          <p:cNvSpPr txBox="1"/>
          <p:nvPr/>
        </p:nvSpPr>
        <p:spPr>
          <a:xfrm>
            <a:off x="998302" y="5802323"/>
            <a:ext cx="7416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fund shows steady growth in NAV with fluctuating returns, indicating stable performance over the study period.</a:t>
            </a:r>
          </a:p>
        </p:txBody>
      </p:sp>
    </p:spTree>
    <p:extLst>
      <p:ext uri="{BB962C8B-B14F-4D97-AF65-F5344CB8AC3E}">
        <p14:creationId xmlns:p14="http://schemas.microsoft.com/office/powerpoint/2010/main" val="211157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AD5AE-4D1E-4658-31F3-E6E9412289C1}"/>
              </a:ext>
            </a:extLst>
          </p:cNvPr>
          <p:cNvSpPr txBox="1"/>
          <p:nvPr/>
        </p:nvSpPr>
        <p:spPr>
          <a:xfrm>
            <a:off x="1082202" y="433040"/>
            <a:ext cx="4413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&amp; Beta Comparison: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BA29AF4-B46A-AB0C-6ED4-2BFC85C50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98268"/>
              </p:ext>
            </p:extLst>
          </p:nvPr>
        </p:nvGraphicFramePr>
        <p:xfrm>
          <a:off x="1072878" y="1111472"/>
          <a:ext cx="10046244" cy="139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374">
                  <a:extLst>
                    <a:ext uri="{9D8B030D-6E8A-4147-A177-3AD203B41FA5}">
                      <a16:colId xmlns:a16="http://schemas.microsoft.com/office/drawing/2014/main" val="3684701994"/>
                    </a:ext>
                  </a:extLst>
                </a:gridCol>
                <a:gridCol w="1674374">
                  <a:extLst>
                    <a:ext uri="{9D8B030D-6E8A-4147-A177-3AD203B41FA5}">
                      <a16:colId xmlns:a16="http://schemas.microsoft.com/office/drawing/2014/main" val="2885408502"/>
                    </a:ext>
                  </a:extLst>
                </a:gridCol>
                <a:gridCol w="1674374">
                  <a:extLst>
                    <a:ext uri="{9D8B030D-6E8A-4147-A177-3AD203B41FA5}">
                      <a16:colId xmlns:a16="http://schemas.microsoft.com/office/drawing/2014/main" val="1907383096"/>
                    </a:ext>
                  </a:extLst>
                </a:gridCol>
                <a:gridCol w="1674374">
                  <a:extLst>
                    <a:ext uri="{9D8B030D-6E8A-4147-A177-3AD203B41FA5}">
                      <a16:colId xmlns:a16="http://schemas.microsoft.com/office/drawing/2014/main" val="2655150297"/>
                    </a:ext>
                  </a:extLst>
                </a:gridCol>
                <a:gridCol w="1674374">
                  <a:extLst>
                    <a:ext uri="{9D8B030D-6E8A-4147-A177-3AD203B41FA5}">
                      <a16:colId xmlns:a16="http://schemas.microsoft.com/office/drawing/2014/main" val="3191596824"/>
                    </a:ext>
                  </a:extLst>
                </a:gridCol>
                <a:gridCol w="1674374">
                  <a:extLst>
                    <a:ext uri="{9D8B030D-6E8A-4147-A177-3AD203B41FA5}">
                      <a16:colId xmlns:a16="http://schemas.microsoft.com/office/drawing/2014/main" val="3581797463"/>
                    </a:ext>
                  </a:extLst>
                </a:gridCol>
              </a:tblGrid>
              <a:tr h="463745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Mirae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Nippon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1924"/>
                  </a:ext>
                </a:extLst>
              </a:tr>
              <a:tr h="4637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 </a:t>
                      </a:r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(α)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0.0078358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0.006447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0.0100089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0.00554389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04071"/>
                  </a:ext>
                </a:extLst>
              </a:tr>
              <a:tr h="4637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Beta </a:t>
                      </a:r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(β)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0.5022984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0.493105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0.5219765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0.49802926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7448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58D0C6-FF27-A9AA-03C7-77CC1C2608F5}"/>
              </a:ext>
            </a:extLst>
          </p:cNvPr>
          <p:cNvSpPr txBox="1"/>
          <p:nvPr/>
        </p:nvSpPr>
        <p:spPr>
          <a:xfrm>
            <a:off x="1072877" y="2666577"/>
            <a:ext cx="7062281" cy="230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sz="1400" b="1" kern="1200" dirty="0">
                <a:effectLst/>
                <a:latin typeface="Times New Roman" panose="02020603050405020304" pitchFamily="18" charset="0"/>
                <a:ea typeface="Syne Bold"/>
                <a:cs typeface="Times New Roman" panose="02020603050405020304" pitchFamily="18" charset="0"/>
              </a:rPr>
              <a:t>Alpha (α) -: </a:t>
            </a:r>
            <a:r>
              <a:rPr lang="en-US" sz="14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Measures excess return generated by a fund compared to market benchmark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5068F-8BD5-54E3-BF4D-1CFC88F0BC0B}"/>
              </a:ext>
            </a:extLst>
          </p:cNvPr>
          <p:cNvSpPr txBox="1"/>
          <p:nvPr/>
        </p:nvSpPr>
        <p:spPr>
          <a:xfrm>
            <a:off x="1072877" y="2897218"/>
            <a:ext cx="6378509" cy="44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</a:pPr>
            <a:r>
              <a:rPr lang="en-US" sz="1400" b="1" kern="1200" dirty="0">
                <a:effectLst/>
                <a:latin typeface="Times New Roman" panose="02020603050405020304" pitchFamily="18" charset="0"/>
                <a:ea typeface="Syne Bold"/>
                <a:cs typeface="Times New Roman" panose="02020603050405020304" pitchFamily="18" charset="0"/>
              </a:rPr>
              <a:t>Beta (β) -: </a:t>
            </a:r>
            <a:r>
              <a:rPr lang="en-US" sz="1400" kern="1200" dirty="0">
                <a:effectLst/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</a:rPr>
              <a:t>Measures sensitivity of fund to market movements (market risk)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eaLnBrk="1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7E50F-28BE-F31B-539D-BFB65C25C010}"/>
              </a:ext>
            </a:extLst>
          </p:cNvPr>
          <p:cNvSpPr txBox="1"/>
          <p:nvPr/>
        </p:nvSpPr>
        <p:spPr>
          <a:xfrm>
            <a:off x="2001467" y="3851938"/>
            <a:ext cx="2375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Rp= Fund return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Rm= Market return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Covariance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 = Variance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AB57FD-2A3A-285C-2BA8-C94B1AEDF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20" y="3166138"/>
            <a:ext cx="1495425" cy="685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A8B2D4-0446-D669-05AE-DAD67E94F75E}"/>
              </a:ext>
            </a:extLst>
          </p:cNvPr>
          <p:cNvSpPr txBox="1"/>
          <p:nvPr/>
        </p:nvSpPr>
        <p:spPr>
          <a:xfrm>
            <a:off x="1056765" y="3256243"/>
            <a:ext cx="1242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-: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C8BB90-A00A-1D57-5919-12EAE165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3248025"/>
            <a:ext cx="1466850" cy="3619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1085EA-65B1-880F-794F-1F7CDD9C883D}"/>
              </a:ext>
            </a:extLst>
          </p:cNvPr>
          <p:cNvSpPr txBox="1"/>
          <p:nvPr/>
        </p:nvSpPr>
        <p:spPr>
          <a:xfrm>
            <a:off x="5362575" y="3625575"/>
            <a:ext cx="31517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= Average fund return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 = Average market return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= Beta value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CD777F-D614-860C-C548-EBE40D46CE22}"/>
              </a:ext>
            </a:extLst>
          </p:cNvPr>
          <p:cNvSpPr txBox="1"/>
          <p:nvPr/>
        </p:nvSpPr>
        <p:spPr>
          <a:xfrm>
            <a:off x="1167318" y="5010052"/>
            <a:ext cx="98638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Nippon Mutual Fund</a:t>
            </a:r>
            <a:r>
              <a:rPr lang="en-US" sz="18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achieved the highest alpha (0.0100), indicating superior performance and effective fund management.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All funds have beta values close to 0.5, meaning they are less volatile than the market and carry moderate risk.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SBI</a:t>
            </a:r>
            <a:r>
              <a:rPr lang="en-US" sz="18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has the lowest beta (0.493), suggesting relatively lower risk compared to others.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1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09F0CF-14E0-6252-577C-0A63D4351A16}"/>
              </a:ext>
            </a:extLst>
          </p:cNvPr>
          <p:cNvSpPr txBox="1"/>
          <p:nvPr/>
        </p:nvSpPr>
        <p:spPr>
          <a:xfrm>
            <a:off x="1218389" y="141214"/>
            <a:ext cx="1884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ANOVA -: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65CAF-03E8-C5A5-48EF-4A68B989ED02}"/>
              </a:ext>
            </a:extLst>
          </p:cNvPr>
          <p:cNvSpPr txBox="1"/>
          <p:nvPr/>
        </p:nvSpPr>
        <p:spPr>
          <a:xfrm>
            <a:off x="716604" y="766710"/>
            <a:ext cx="10758791" cy="72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The ANOVA (Analysis of Variance) test was conducted for each mutual fund to determine whether there is a significant difference between high and low NAV values. </a:t>
            </a:r>
            <a:r>
              <a:rPr lang="en-US" sz="16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The states</a:t>
            </a:r>
            <a:r>
              <a:rPr lang="en-US" sz="1600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while the </a:t>
            </a:r>
            <a:r>
              <a:rPr lang="en-US" sz="16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states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33EC522-2CE6-9D3A-3125-A6E605A17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740246"/>
              </p:ext>
            </p:extLst>
          </p:nvPr>
        </p:nvGraphicFramePr>
        <p:xfrm>
          <a:off x="736059" y="2315493"/>
          <a:ext cx="10136220" cy="1819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44">
                  <a:extLst>
                    <a:ext uri="{9D8B030D-6E8A-4147-A177-3AD203B41FA5}">
                      <a16:colId xmlns:a16="http://schemas.microsoft.com/office/drawing/2014/main" val="670370265"/>
                    </a:ext>
                  </a:extLst>
                </a:gridCol>
                <a:gridCol w="2027244">
                  <a:extLst>
                    <a:ext uri="{9D8B030D-6E8A-4147-A177-3AD203B41FA5}">
                      <a16:colId xmlns:a16="http://schemas.microsoft.com/office/drawing/2014/main" val="966232662"/>
                    </a:ext>
                  </a:extLst>
                </a:gridCol>
                <a:gridCol w="2027244">
                  <a:extLst>
                    <a:ext uri="{9D8B030D-6E8A-4147-A177-3AD203B41FA5}">
                      <a16:colId xmlns:a16="http://schemas.microsoft.com/office/drawing/2014/main" val="1814955552"/>
                    </a:ext>
                  </a:extLst>
                </a:gridCol>
                <a:gridCol w="2027244">
                  <a:extLst>
                    <a:ext uri="{9D8B030D-6E8A-4147-A177-3AD203B41FA5}">
                      <a16:colId xmlns:a16="http://schemas.microsoft.com/office/drawing/2014/main" val="3871219213"/>
                    </a:ext>
                  </a:extLst>
                </a:gridCol>
                <a:gridCol w="2027244">
                  <a:extLst>
                    <a:ext uri="{9D8B030D-6E8A-4147-A177-3AD203B41FA5}">
                      <a16:colId xmlns:a16="http://schemas.microsoft.com/office/drawing/2014/main" val="372062139"/>
                    </a:ext>
                  </a:extLst>
                </a:gridCol>
              </a:tblGrid>
              <a:tr h="8429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of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of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387896"/>
                  </a:ext>
                </a:extLst>
              </a:tr>
              <a:tr h="49280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C(group)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6.5544509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1.253748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0.265112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62589"/>
                  </a:ext>
                </a:extLst>
              </a:tr>
              <a:tr h="4833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6.16961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6256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3CE229-FF19-DF75-BBEC-F3451012092F}"/>
              </a:ext>
            </a:extLst>
          </p:cNvPr>
          <p:cNvSpPr txBox="1"/>
          <p:nvPr/>
        </p:nvSpPr>
        <p:spPr>
          <a:xfrm>
            <a:off x="807395" y="4474723"/>
            <a:ext cx="9993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CONCULSION: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Fail to reject H₀.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 p-value (0.2651) is greater than 0.05, there is no significant difference between the mean High and Low values.  Therefore, both groups High and low values have similar average values.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A3E0C-9C6F-1042-5EA9-BBCAE24EED88}"/>
              </a:ext>
            </a:extLst>
          </p:cNvPr>
          <p:cNvSpPr txBox="1"/>
          <p:nvPr/>
        </p:nvSpPr>
        <p:spPr>
          <a:xfrm>
            <a:off x="736059" y="1644975"/>
            <a:ext cx="4507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Null hypothesis (H₀) : mean high equals mean low 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C3A6C-A7F9-A7C7-81AB-16DFD6FA01EF}"/>
              </a:ext>
            </a:extLst>
          </p:cNvPr>
          <p:cNvSpPr txBox="1"/>
          <p:nvPr/>
        </p:nvSpPr>
        <p:spPr>
          <a:xfrm>
            <a:off x="5847136" y="1644975"/>
            <a:ext cx="4627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alternative hypothesis (H₁) : they are different. 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137F1-0C1A-9A85-E821-DAE1308699F9}"/>
              </a:ext>
            </a:extLst>
          </p:cNvPr>
          <p:cNvSpPr txBox="1"/>
          <p:nvPr/>
        </p:nvSpPr>
        <p:spPr>
          <a:xfrm>
            <a:off x="5243209" y="1683944"/>
            <a:ext cx="581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V/S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13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2CB9FA-4EAB-00A7-E9EE-9F2E2F8826C8}"/>
              </a:ext>
            </a:extLst>
          </p:cNvPr>
          <p:cNvSpPr txBox="1"/>
          <p:nvPr/>
        </p:nvSpPr>
        <p:spPr>
          <a:xfrm>
            <a:off x="916832" y="248215"/>
            <a:ext cx="2478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5F93B-FE21-E878-F286-8E10621B580F}"/>
              </a:ext>
            </a:extLst>
          </p:cNvPr>
          <p:cNvSpPr txBox="1"/>
          <p:nvPr/>
        </p:nvSpPr>
        <p:spPr>
          <a:xfrm>
            <a:off x="651752" y="1311799"/>
            <a:ext cx="103794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selected mutual funds over the period 2021–2025 reveals a stable and consistent performance across all funds.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findings indicate that all funds generated positive mean returns ranging approximately from 1.09% to 1.58%, highlighting their profitability and potential for wealth creation.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selected funds,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Nippon Mutual Fund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the highest average return, while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the lowest but maintained stable performance, reflecting reliability.</a:t>
            </a:r>
          </a:p>
        </p:txBody>
      </p:sp>
    </p:spTree>
    <p:extLst>
      <p:ext uri="{BB962C8B-B14F-4D97-AF65-F5344CB8AC3E}">
        <p14:creationId xmlns:p14="http://schemas.microsoft.com/office/powerpoint/2010/main" val="183981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4BE53-3293-95E9-90AB-6733C84E099B}"/>
              </a:ext>
            </a:extLst>
          </p:cNvPr>
          <p:cNvSpPr txBox="1"/>
          <p:nvPr/>
        </p:nvSpPr>
        <p:spPr>
          <a:xfrm>
            <a:off x="1461578" y="330106"/>
            <a:ext cx="29255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Limitations: 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1C336-9586-F205-FA79-6DDC8853274D}"/>
              </a:ext>
            </a:extLst>
          </p:cNvPr>
          <p:cNvSpPr txBox="1"/>
          <p:nvPr/>
        </p:nvSpPr>
        <p:spPr>
          <a:xfrm>
            <a:off x="757946" y="1034082"/>
            <a:ext cx="1067610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is limited to only five mutual funds, which may not represent the entire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time period (2021–2025) may not capture long-term economic cycles or extreme market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is based mainly on historical data, which may not predict future performance accurately.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such as inflation, interest rates, and global events are not included in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Alpha–Beta model assumes a linear relationship with the market, which may not always hold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accuracy depends on the source, and any data inconsistency can affect results.</a:t>
            </a:r>
          </a:p>
        </p:txBody>
      </p:sp>
    </p:spTree>
    <p:extLst>
      <p:ext uri="{BB962C8B-B14F-4D97-AF65-F5344CB8AC3E}">
        <p14:creationId xmlns:p14="http://schemas.microsoft.com/office/powerpoint/2010/main" val="340296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AE4D6-8AD2-DA1F-7A07-6B6D5E941FA5}"/>
              </a:ext>
            </a:extLst>
          </p:cNvPr>
          <p:cNvSpPr txBox="1"/>
          <p:nvPr/>
        </p:nvSpPr>
        <p:spPr>
          <a:xfrm>
            <a:off x="1403213" y="248215"/>
            <a:ext cx="2614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References: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AE231-4272-5E28-4524-5F801BBCD199}"/>
              </a:ext>
            </a:extLst>
          </p:cNvPr>
          <p:cNvSpPr txBox="1"/>
          <p:nvPr/>
        </p:nvSpPr>
        <p:spPr>
          <a:xfrm>
            <a:off x="619328" y="933457"/>
            <a:ext cx="109533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Association of Mutual Funds in India – Official website for mutual fund data, NAV, and industry reports. 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Website: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https://www.amfiindia.com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Securities and Exchange Board of India – Guidelines, regulations, and investor awareness resources. 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Website: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https://www.sebi.gov.in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National Stock Exchange of India – Market index data used for Beta calculation. 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Website: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https://www.nseindia.com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Bombay Stock Exchange – Historical market data and benchmark indices. 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Website: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https://www.bseindia.com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07C07-36CB-C885-0CA0-D317BBC541C8}"/>
              </a:ext>
            </a:extLst>
          </p:cNvPr>
          <p:cNvSpPr txBox="1"/>
          <p:nvPr/>
        </p:nvSpPr>
        <p:spPr>
          <a:xfrm>
            <a:off x="619328" y="3707432"/>
            <a:ext cx="73885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HDFC Mutual Fund –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https://www.hdfcfund.com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SBI Mutual Fund –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https://www.sbimf.com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UTI Mutual Fund –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https://www.utimf.com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Nippon India Mutual Fund –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https://mf.nipponindiaim.com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467885"/>
              </a:solidFill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Mirae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Asset Mutual Fund – </a:t>
            </a:r>
            <a:r>
              <a:rPr lang="en-US" sz="1600" b="0" i="0" u="none" strike="noStrike" baseline="0" dirty="0">
                <a:solidFill>
                  <a:srgbClr val="467885"/>
                </a:solidFill>
                <a:latin typeface="Times New Roman" panose="02020603050405020304" pitchFamily="18" charset="0"/>
              </a:rPr>
              <a:t>https://www.miraeassetmf.co.in </a:t>
            </a:r>
          </a:p>
        </p:txBody>
      </p:sp>
    </p:spTree>
    <p:extLst>
      <p:ext uri="{BB962C8B-B14F-4D97-AF65-F5344CB8AC3E}">
        <p14:creationId xmlns:p14="http://schemas.microsoft.com/office/powerpoint/2010/main" val="392452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1321</Words>
  <Application>Microsoft Office PowerPoint</Application>
  <PresentationFormat>Widescreen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Arimo</vt:lpstr>
      <vt:lpstr>Calibri</vt:lpstr>
      <vt:lpstr>Calibri Light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Vaishali Dhepale</dc:creator>
  <cp:lastModifiedBy>vaibhavaher2705@gmail.com</cp:lastModifiedBy>
  <cp:revision>3</cp:revision>
  <dcterms:created xsi:type="dcterms:W3CDTF">2026-04-12T12:45:31Z</dcterms:created>
  <dcterms:modified xsi:type="dcterms:W3CDTF">2026-04-16T02:11:21Z</dcterms:modified>
</cp:coreProperties>
</file>